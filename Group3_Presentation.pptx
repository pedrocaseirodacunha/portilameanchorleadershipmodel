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2313"/>
  </p:normalViewPr>
  <p:slideViewPr>
    <p:cSldViewPr snapToGrid="0" snapToObjects="1">
      <p:cViewPr varScale="1">
        <p:scale>
          <a:sx n="121" d="100"/>
          <a:sy n="121" d="100"/>
        </p:scale>
        <p:origin x="1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1811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TERESA</a:t>
            </a:r>
          </a:p>
          <a:p>
            <a:endParaRPr lang="pt-PT" dirty="0"/>
          </a:p>
          <a:p>
            <a:r>
              <a:rPr lang="pt-PT" dirty="0"/>
              <a:t>____</a:t>
            </a:r>
          </a:p>
          <a:p>
            <a:endParaRPr lang="pt-PT" dirty="0"/>
          </a:p>
          <a:p>
            <a:endParaRPr lang="pt-PT" dirty="0"/>
          </a:p>
          <a:p>
            <a:r>
              <a:rPr dirty="0"/>
              <a:t>Good afternoon. We are Group 3. Our challenge this week was simple to state and hard to answer: how can holistic leadership help organizations lead effectively in times of constant change?</a:t>
            </a:r>
          </a:p>
          <a:p>
            <a:endParaRPr dirty="0"/>
          </a:p>
          <a:p>
            <a:r>
              <a:rPr dirty="0"/>
              <a:t>We built our answer from real experience — not theory. Five people, five organizations, five countries. And one question: what actually works?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TERESA</a:t>
            </a:r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r>
              <a:rPr dirty="0"/>
              <a:t>We started with the Appreciative Inquiry question: when was leadership at its best?</a:t>
            </a:r>
          </a:p>
          <a:p>
            <a:endParaRPr dirty="0"/>
          </a:p>
          <a:p>
            <a:r>
              <a:rPr dirty="0"/>
              <a:t>Across all five organizations, the answers converged around the same five truths.</a:t>
            </a:r>
          </a:p>
          <a:p>
            <a:endParaRPr dirty="0"/>
          </a:p>
          <a:p>
            <a:r>
              <a:rPr dirty="0"/>
              <a:t>Trust came first — always. Not trust as a policy, but trust as a daily choice. The best leaders earned it by extending it first.</a:t>
            </a:r>
          </a:p>
          <a:p>
            <a:endParaRPr dirty="0"/>
          </a:p>
          <a:p>
            <a:r>
              <a:rPr dirty="0"/>
              <a:t>Flexibility unlocked potential. When people had autonomy — especially during disruption — they found better solutions than any instruction manual could provide.</a:t>
            </a:r>
          </a:p>
          <a:p>
            <a:endParaRPr dirty="0"/>
          </a:p>
          <a:p>
            <a:r>
              <a:rPr dirty="0"/>
              <a:t>Open communication meant sharing optimism, acknowledging effort, and accepting imperfection. Not performing confidence — being transparent.</a:t>
            </a:r>
          </a:p>
          <a:p>
            <a:endParaRPr dirty="0"/>
          </a:p>
          <a:p>
            <a:r>
              <a:rPr dirty="0"/>
              <a:t>Proactive support structures were built in before crisis hit. The organizations that thrived were the ones where support already existed — not the ones scrambling to deploy it.</a:t>
            </a:r>
          </a:p>
          <a:p>
            <a:endParaRPr dirty="0"/>
          </a:p>
          <a:p>
            <a:r>
              <a:rPr dirty="0"/>
              <a:t>And shared purpose reduced uncertainty. When people understood the why, they navigated the how themselves.</a:t>
            </a:r>
          </a:p>
          <a:p>
            <a:endParaRPr dirty="0"/>
          </a:p>
          <a:p>
            <a:r>
              <a:rPr dirty="0"/>
              <a:t>The key insight: every one of these truths is about focusing on people's strengths and creating conditions for them to succeed — not fixing what's broken.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PEDRO </a:t>
            </a:r>
          </a:p>
          <a:p>
            <a:endParaRPr lang="pt-PT" dirty="0"/>
          </a:p>
          <a:p>
            <a:r>
              <a:rPr dirty="0"/>
              <a:t>A child of an employee said this during a company event. And it stopped the room.</a:t>
            </a:r>
          </a:p>
          <a:p>
            <a:endParaRPr dirty="0"/>
          </a:p>
          <a:p>
            <a:r>
              <a:rPr dirty="0"/>
              <a:t>This is the dream. Not metrics. Not awards. Not efficiency ratios.</a:t>
            </a:r>
          </a:p>
          <a:p>
            <a:endParaRPr dirty="0"/>
          </a:p>
          <a:p>
            <a:r>
              <a:rPr dirty="0"/>
              <a:t>Children who see their parents come home fulfilled, proud, and inspired. That is what a truly healthy organization looks like from the outside.</a:t>
            </a:r>
          </a:p>
          <a:p>
            <a:endParaRPr dirty="0"/>
          </a:p>
          <a:p>
            <a:r>
              <a:rPr dirty="0"/>
              <a:t>The dream is organizations where people thrive — not just survive. Where leaders focus on amplifying each person's strengths, creating the conditions for people to be at their best. Where change is met with resilience, not fear.</a:t>
            </a:r>
          </a:p>
          <a:p>
            <a:endParaRPr dirty="0"/>
          </a:p>
          <a:p>
            <a:r>
              <a:rPr dirty="0"/>
              <a:t>As leaders, we must shift from fixing weaknesses to amplifying strengths. When you focus on what people do best and build around that, performance becomes sustainable — and human.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DOMINIC &amp; DEVIN</a:t>
            </a:r>
            <a:endParaRPr lang="en-PT" dirty="0"/>
          </a:p>
          <a:p>
            <a:endParaRPr lang="en-PT" dirty="0"/>
          </a:p>
          <a:p>
            <a:r>
              <a:rPr dirty="0"/>
              <a:t>From five days of sessions, science, and group reflection, we distilled six leadership practices.</a:t>
            </a:r>
          </a:p>
          <a:p>
            <a:endParaRPr dirty="0"/>
          </a:p>
          <a:p>
            <a:r>
              <a:rPr dirty="0"/>
              <a:t>Self-awareness — know your strengths, your biases, your energy patterns. We learned from character strengths science that leading from your best self makes others follow with theirs.</a:t>
            </a:r>
          </a:p>
          <a:p>
            <a:endParaRPr dirty="0"/>
          </a:p>
          <a:p>
            <a:r>
              <a:rPr dirty="0"/>
              <a:t>Trust-building narrative — share the real story. Values, purpose, vulnerability. People follow leaders they believe, not leaders who perform.</a:t>
            </a:r>
          </a:p>
          <a:p>
            <a:endParaRPr dirty="0"/>
          </a:p>
          <a:p>
            <a:r>
              <a:rPr dirty="0"/>
              <a:t>Healthy rhythms — protect energy through cadence. Respect biological clocks, not just business clocks. From circadian science, we learned that timing matters as much as effort.</a:t>
            </a:r>
          </a:p>
          <a:p>
            <a:endParaRPr dirty="0"/>
          </a:p>
          <a:p>
            <a:r>
              <a:rPr dirty="0"/>
              <a:t>Psychological safety — create space for mistakes, for questions, for honest feedback. Belonging is not comfort — it is the safety to be real.</a:t>
            </a:r>
          </a:p>
          <a:p>
            <a:endParaRPr dirty="0"/>
          </a:p>
          <a:p>
            <a:r>
              <a:rPr dirty="0"/>
              <a:t>Growth through ownership — give people responsibility, not just tasks. Focus on each person's strengths and create conditions to amplify them. Growth happens when people own outcomes.</a:t>
            </a:r>
          </a:p>
          <a:p>
            <a:endParaRPr dirty="0"/>
          </a:p>
          <a:p>
            <a:r>
              <a:rPr dirty="0"/>
              <a:t>Mindful resilience — build reflection into daily leadership. Pause before reacting. Seek the blind spots. We all have them — around 240,000 of them.</a:t>
            </a:r>
          </a:p>
          <a:p>
            <a:endParaRPr dirty="0"/>
          </a:p>
          <a:p>
            <a:r>
              <a:rPr dirty="0"/>
              <a:t>Our Day 4 group work reinforced these with three principles: healthy organizational rules, genuine employee wellbeing, and creating great environments for human energy.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ALEJANDRA</a:t>
            </a:r>
          </a:p>
          <a:p>
            <a:endParaRPr lang="en-PT" dirty="0"/>
          </a:p>
          <a:p>
            <a:endParaRPr lang="en-PT" dirty="0"/>
          </a:p>
          <a:p>
            <a:r>
              <a:rPr dirty="0"/>
              <a:t>None of this matters unless it becomes action.</a:t>
            </a:r>
          </a:p>
          <a:p>
            <a:endParaRPr dirty="0"/>
          </a:p>
          <a:p>
            <a:r>
              <a:rPr dirty="0"/>
              <a:t>In the first 30 days: listen and diagnose. Run a simple well-being pulse. Find where trust, energy, and safety are strong — and where they need attention. Start from strengths, not from gaps.</a:t>
            </a:r>
          </a:p>
          <a:p>
            <a:endParaRPr dirty="0"/>
          </a:p>
          <a:p>
            <a:r>
              <a:rPr dirty="0"/>
              <a:t>In the first 90 days: introduce practices. Start small — weekly reflection rituals, peer recognition, protected recovery time. Build habits before building systems.</a:t>
            </a:r>
          </a:p>
          <a:p>
            <a:endParaRPr dirty="0"/>
          </a:p>
          <a:p>
            <a:r>
              <a:rPr dirty="0"/>
              <a:t>In the first year: embed and evolve. Integrate practices into culture. Measure impact through engagement and energy — not just performance numbers. Adjust based on real feedback.</a:t>
            </a:r>
          </a:p>
          <a:p>
            <a:endParaRPr dirty="0"/>
          </a:p>
          <a:p>
            <a:r>
              <a:rPr dirty="0"/>
              <a:t>The commitment is not perfection. It is starting. And starting from what is already working — amplifying strengths rather than fixing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PEDRO</a:t>
            </a:r>
            <a:endParaRPr lang="pt-PT" dirty="0"/>
          </a:p>
          <a:p>
            <a:endParaRPr lang="en-PT" dirty="0"/>
          </a:p>
          <a:p>
            <a:r>
              <a:rPr dirty="0"/>
              <a:t>Leading through change is not about having all the answers.</a:t>
            </a:r>
          </a:p>
          <a:p>
            <a:endParaRPr dirty="0"/>
          </a:p>
          <a:p>
            <a:r>
              <a:rPr dirty="0"/>
              <a:t>It is about creating the conditions for people to find them together. About focusing on what makes each person strong, and building around that.</a:t>
            </a:r>
          </a:p>
          <a:p>
            <a:endParaRPr dirty="0"/>
          </a:p>
          <a:p>
            <a:r>
              <a:rPr dirty="0"/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Holistic Leadership · Appreciative Inquiry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0" y="1691640"/>
            <a:ext cx="914400" cy="36576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Leading Through</a:t>
            </a:r>
            <a:endParaRPr lang="en-US" sz="4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371600" y="34747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can holistic leadership be realistically applied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 help organizations lead effectively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times of constant change?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434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EDE0"/>
                </a:solidFill>
              </a:rPr>
              <a:t>Alejandra Matallana · Devin Davis · Dominik Wohr · Pedro Cunha · Teresa Torres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IE Business School × Porto Business School — March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10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DISCOVER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works when leadership is at its best?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Across five organizations and three countries, we found the same five truths.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E2D45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6576" cy="109728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10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comes first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Earned by extending it. No micromanagement — genuine belief in people.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E2D45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2" name="Shape 10"/>
          <p:cNvSpPr/>
          <p:nvPr/>
        </p:nvSpPr>
        <p:spPr>
          <a:xfrm>
            <a:off x="3291840" y="1828800"/>
            <a:ext cx="36576" cy="109728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3" name="Text 11"/>
          <p:cNvSpPr/>
          <p:nvPr/>
        </p:nvSpPr>
        <p:spPr>
          <a:xfrm>
            <a:off x="3474720" y="1783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10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2057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Flexibility unlocks potential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23317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Autonomy during disruption made teams stronger than strict instructions.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E2D45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7" name="Shape 15"/>
          <p:cNvSpPr/>
          <p:nvPr/>
        </p:nvSpPr>
        <p:spPr>
          <a:xfrm>
            <a:off x="6035040" y="1828800"/>
            <a:ext cx="36576" cy="109728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8" name="Text 16"/>
          <p:cNvSpPr/>
          <p:nvPr/>
        </p:nvSpPr>
        <p:spPr>
          <a:xfrm>
            <a:off x="6217920" y="1783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10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17920" y="2057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communication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3317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Transparency, shared optimism, and accepting imperfection build the strongest teams.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20040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E2D45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2" name="Shape 20"/>
          <p:cNvSpPr/>
          <p:nvPr/>
        </p:nvSpPr>
        <p:spPr>
          <a:xfrm>
            <a:off x="548640" y="3337560"/>
            <a:ext cx="36576" cy="109728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3" name="Text 21"/>
          <p:cNvSpPr/>
          <p:nvPr/>
        </p:nvSpPr>
        <p:spPr>
          <a:xfrm>
            <a:off x="731520" y="32918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10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1520" y="35661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Proactive support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38404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Support built in before it's needed — not deployed in crisis mode.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20040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E2D45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7" name="Shape 25"/>
          <p:cNvSpPr/>
          <p:nvPr/>
        </p:nvSpPr>
        <p:spPr>
          <a:xfrm>
            <a:off x="4663440" y="3337560"/>
            <a:ext cx="36576" cy="109728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8" name="Text 26"/>
          <p:cNvSpPr/>
          <p:nvPr/>
        </p:nvSpPr>
        <p:spPr>
          <a:xfrm>
            <a:off x="4846320" y="32918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10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846320" y="35661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Strengths over problems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38404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best leaders focused on what people do well and built around that — amplifying strengths, not fixing weaknesses.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" name="Text 1"/>
          <p:cNvSpPr/>
          <p:nvPr/>
        </p:nvSpPr>
        <p:spPr>
          <a:xfrm>
            <a:off x="914400" y="731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C810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10972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400" i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hero is my father.</a:t>
            </a:r>
            <a:endParaRPr lang="en-US" sz="2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2400" i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I grow up, I want to be like him. Working here!”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child of an employee, during a company event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0" y="3246120"/>
            <a:ext cx="3657600" cy="36576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8" name="Shape 6"/>
          <p:cNvSpPr/>
          <p:nvPr/>
        </p:nvSpPr>
        <p:spPr>
          <a:xfrm>
            <a:off x="1645920" y="3383280"/>
            <a:ext cx="5852160" cy="1280160"/>
          </a:xfrm>
          <a:prstGeom prst="roundRect">
            <a:avLst>
              <a:gd name="adj" fmla="val 7143"/>
            </a:avLst>
          </a:prstGeom>
          <a:solidFill>
            <a:srgbClr val="1E2D45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9" name="Text 7"/>
          <p:cNvSpPr/>
          <p:nvPr/>
        </p:nvSpPr>
        <p:spPr>
          <a:xfrm>
            <a:off x="1828800" y="3474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dream is simple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37947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Organizations where people thrive — not just survive.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 leadership sustains performance without burning people out.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 leaders amplify strengths, creating conditions for success. Where change is met with resilience, not fear.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10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practices for leading through change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 in five days of research, science, and group reflection.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E2D45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6576" cy="12344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8" name="Text 6"/>
          <p:cNvSpPr/>
          <p:nvPr/>
        </p:nvSpPr>
        <p:spPr>
          <a:xfrm>
            <a:off x="713232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Self-awareness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18013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Know your strengths, biases, and energy patterns. Leading from your best self makes others follow with theirs.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E2D45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1" name="Shape 9"/>
          <p:cNvSpPr/>
          <p:nvPr/>
        </p:nvSpPr>
        <p:spPr>
          <a:xfrm>
            <a:off x="3291840" y="1417320"/>
            <a:ext cx="36576" cy="12344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2" name="Text 10"/>
          <p:cNvSpPr/>
          <p:nvPr/>
        </p:nvSpPr>
        <p:spPr>
          <a:xfrm>
            <a:off x="3456432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Trust-building narrative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56432" y="18013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Share the real story — values, purpose, vulnerability. People follow leaders they believe.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E2D45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5" name="Shape 13"/>
          <p:cNvSpPr/>
          <p:nvPr/>
        </p:nvSpPr>
        <p:spPr>
          <a:xfrm>
            <a:off x="6035040" y="1417320"/>
            <a:ext cx="36576" cy="12344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6" name="Text 14"/>
          <p:cNvSpPr/>
          <p:nvPr/>
        </p:nvSpPr>
        <p:spPr>
          <a:xfrm>
            <a:off x="6199632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Healthy rhythms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99632" y="18013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Protect energy through cadence: meeting rhythms, recovery time, decision-free zones.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7889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E2D45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9" name="Shape 17"/>
          <p:cNvSpPr/>
          <p:nvPr/>
        </p:nvSpPr>
        <p:spPr>
          <a:xfrm>
            <a:off x="548640" y="2788920"/>
            <a:ext cx="36576" cy="12344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0" name="Text 18"/>
          <p:cNvSpPr/>
          <p:nvPr/>
        </p:nvSpPr>
        <p:spPr>
          <a:xfrm>
            <a:off x="713232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Psychological safety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" y="31729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Create space for mistakes, questions, and honest feedback. Safety to be real.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27889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E2D45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3" name="Shape 21"/>
          <p:cNvSpPr/>
          <p:nvPr/>
        </p:nvSpPr>
        <p:spPr>
          <a:xfrm>
            <a:off x="3291840" y="2788920"/>
            <a:ext cx="36576" cy="12344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4" name="Text 22"/>
          <p:cNvSpPr/>
          <p:nvPr/>
        </p:nvSpPr>
        <p:spPr>
          <a:xfrm>
            <a:off x="3456432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through strengths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56432" y="31729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Give people responsibility, not just tasks. Growth happens when people own outcomes built on what they do best.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27889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E2D45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7" name="Shape 25"/>
          <p:cNvSpPr/>
          <p:nvPr/>
        </p:nvSpPr>
        <p:spPr>
          <a:xfrm>
            <a:off x="6035040" y="2788920"/>
            <a:ext cx="36576" cy="12344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8" name="Text 26"/>
          <p:cNvSpPr/>
          <p:nvPr/>
        </p:nvSpPr>
        <p:spPr>
          <a:xfrm>
            <a:off x="6199632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Mindful resilience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99632" y="31729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 reflection into daily leadership. Pause before reacting. Seek the blind spots.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EDE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our group work: </a:t>
            </a: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Healthy organizational rules · Wellbeing of employees · Great environment for human energy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10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DESTINY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insight to action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can realistically be implemented — starting now.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E2D45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7" name="Shape 5"/>
          <p:cNvSpPr/>
          <p:nvPr/>
        </p:nvSpPr>
        <p:spPr>
          <a:xfrm>
            <a:off x="822960" y="1463040"/>
            <a:ext cx="2057400" cy="36576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8" name="Text 6"/>
          <p:cNvSpPr/>
          <p:nvPr/>
        </p:nvSpPr>
        <p:spPr>
          <a:xfrm>
            <a:off x="685800" y="1645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810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FIRST 30 DAYS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Listen &amp; Diagnose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331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 a simple well-being pulse. Start from strengths — identify where trust, energy, and safety are already strong — and where they need attention.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E2D45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2" name="Shape 10"/>
          <p:cNvSpPr/>
          <p:nvPr/>
        </p:nvSpPr>
        <p:spPr>
          <a:xfrm>
            <a:off x="3566160" y="1463040"/>
            <a:ext cx="2057400" cy="36576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3" name="Text 11"/>
          <p:cNvSpPr/>
          <p:nvPr/>
        </p:nvSpPr>
        <p:spPr>
          <a:xfrm>
            <a:off x="3429000" y="1645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810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FIRST 90 DAYS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1965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Introduce Practices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2331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small: weekly reflection rituals, peer recognition, protected recovery time. Build habits before systems.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46304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E2D45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7" name="Shape 15"/>
          <p:cNvSpPr/>
          <p:nvPr/>
        </p:nvSpPr>
        <p:spPr>
          <a:xfrm>
            <a:off x="6309360" y="1463040"/>
            <a:ext cx="2057400" cy="36576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8" name="Text 16"/>
          <p:cNvSpPr/>
          <p:nvPr/>
        </p:nvSpPr>
        <p:spPr>
          <a:xfrm>
            <a:off x="6172200" y="1645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810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FIRST YEAR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1965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 &amp; Evolve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72200" y="2331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Integrate into culture. Measure through engagement and energy — not just performance. Adjust based on real feedback.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0" y="374904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1E2D45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2" name="Shape 20"/>
          <p:cNvSpPr/>
          <p:nvPr/>
        </p:nvSpPr>
        <p:spPr>
          <a:xfrm>
            <a:off x="4114800" y="3749040"/>
            <a:ext cx="914400" cy="36576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3" name="Text 21"/>
          <p:cNvSpPr/>
          <p:nvPr/>
        </p:nvSpPr>
        <p:spPr>
          <a:xfrm>
            <a:off x="2011680" y="38404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commitment is not perfection — it is starting.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0" y="2148840"/>
            <a:ext cx="914400" cy="36576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5" name="Text 3"/>
          <p:cNvSpPr/>
          <p:nvPr/>
        </p:nvSpPr>
        <p:spPr>
          <a:xfrm>
            <a:off x="1371600" y="23774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Leading through change is not about fixing what is broken.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about amplifying what makes people strong — and building from there, together.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0" y="3337560"/>
            <a:ext cx="914400" cy="36576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Holistic Leadership: From Purpose to Impact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IE Business School × Porto Business School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March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1348</Words>
  <Application>Microsoft Macintosh PowerPoint</Application>
  <PresentationFormat>On-screen Show (16:9)</PresentationFormat>
  <Paragraphs>156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Georgia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Leading Through Change — Appreciative Inquiry</dc:title>
  <dc:subject>PptxGenJS Presentation</dc:subject>
  <dc:creator>Group 3</dc:creator>
  <cp:lastModifiedBy>Pedro Cunha</cp:lastModifiedBy>
  <cp:revision>5</cp:revision>
  <dcterms:created xsi:type="dcterms:W3CDTF">2026-03-26T14:30:19Z</dcterms:created>
  <dcterms:modified xsi:type="dcterms:W3CDTF">2026-03-27T13:26:39Z</dcterms:modified>
</cp:coreProperties>
</file>