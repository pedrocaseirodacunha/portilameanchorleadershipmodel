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088"/>
  </p:normalViewPr>
  <p:slideViewPr>
    <p:cSldViewPr snapToGrid="0" snapToObjects="1">
      <p:cViewPr varScale="1">
        <p:scale>
          <a:sx n="119" d="100"/>
          <a:sy n="119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069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afternoon. We are Group 3.</a:t>
            </a:r>
          </a:p>
          <a:p/>
          <a:p>
            <a:r>
              <a:t>Our question this week: how can holistic leadership help organizations lead through constant change?</a:t>
            </a:r>
          </a:p>
          <a:p/>
          <a:p>
            <a:r>
              <a:t>We didn't start with theory. We started with a real company. And we built a framework from what we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Imagine a company with 100 people. That means 100 families. Their children.</a:t>
            </a:r>
          </a:p>
          <a:p/>
          <a:p>
            <a:r>
              <a:t>[Pause.]</a:t>
            </a:r>
          </a:p>
          <a:p/>
          <a:p>
            <a:r>
              <a:t>Now imagine this company is growing at 40% per year. And its founders realize they can no longer lead it alone.</a:t>
            </a:r>
          </a:p>
          <a:p/>
          <a:p>
            <a:r>
              <a:t>They did something rare. They lowered their pride. They elevated their humility. And they started rebuilding.</a:t>
            </a:r>
          </a:p>
          <a:p/>
          <a:p>
            <a:r>
              <a:t>This is PORTILAME. Portuguese wood construction. 20 years of history. Our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66% of European workers have experienced burnout. 70% of change initiatives fail. Only 13% are truly engaged at work.</a:t>
            </a:r>
          </a:p>
          <a:p/>
          <a:p>
            <a:r>
              <a:t>The world is changing faster than our organizations can keep up.</a:t>
            </a:r>
          </a:p>
          <a:p/>
          <a:p>
            <a:r>
              <a:t>Our approach: use a real company where culture was the DNA, rapid growth broke it, and the mission became recovering what was always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asked: when is leadership at its best?</a:t>
            </a:r>
          </a:p>
          <a:p/>
          <a:p>
            <a:r>
              <a:t>Across five organizations, five answers kept coming back.</a:t>
            </a:r>
          </a:p>
          <a:p/>
          <a:p>
            <a:r>
              <a:t>Trust comes first — always. Given before it is earned.</a:t>
            </a:r>
          </a:p>
          <a:p/>
          <a:p>
            <a:r>
              <a:t>Flexibility unlocks people. Autonomy creates better solutions than any manual.</a:t>
            </a:r>
          </a:p>
          <a:p/>
          <a:p>
            <a:r>
              <a:t>Open communication means being real — not performing confidence.</a:t>
            </a:r>
          </a:p>
          <a:p/>
          <a:p>
            <a:r>
              <a:t>Support is built before crisis hits — not during.</a:t>
            </a:r>
          </a:p>
          <a:p/>
          <a:p>
            <a:r>
              <a:t>And shared purpose reduces uncertainty. When people know why, they figure out how.</a:t>
            </a:r>
          </a:p>
          <a:p/>
          <a:p>
            <a:r>
              <a:t>At PORTILAME, this was the DNA that built 20 years. 'Who likes, comes. Who loves, stays.'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child of an employee said this at a company event. And it stopped the room.</a:t>
            </a:r>
          </a:p>
          <a:p/>
          <a:p>
            <a:r>
              <a:t>'My hero is my father. When I grow up, I want to be like him — work at PORTILAME.'</a:t>
            </a:r>
          </a:p>
          <a:p/>
          <a:p>
            <a:r>
              <a:t>That is the dream. Not metrics. Not awards. Children who see their parents come home proud and fulfilled.</a:t>
            </a:r>
          </a:p>
          <a:p/>
          <a:p>
            <a:r>
              <a:t>PORTILAME had this culture from day one. Growth fractured it. The mission now: recover it, protect it, and build a framework any organization can use.</a:t>
            </a:r>
          </a:p>
          <a:p/>
          <a:p>
            <a:r>
              <a:t>A framework so light that people carry it like identity — not obligation.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real organizational pain, we built ANCHOR. Six dimensions. Three games. One anchor.</a:t>
            </a:r>
          </a:p>
          <a:p/>
          <a:p>
            <a:r>
              <a:t>Awareness — know yourself. Your strengths. Your biases. Your limits.</a:t>
            </a:r>
          </a:p>
          <a:p/>
          <a:p>
            <a:r>
              <a:t>Narrative — tell the real story. Stories change brain chemistry. Oxytocin up, cortisol down.</a:t>
            </a:r>
          </a:p>
          <a:p/>
          <a:p>
            <a:r>
              <a:t>Cadence — protect your rhythm. Digital discipline. Weekly rituals. Quarterly reviews.</a:t>
            </a:r>
          </a:p>
          <a:p/>
          <a:p>
            <a:r>
              <a:t>Humanity — create belonging. Permission to fail. Permission to be real.</a:t>
            </a:r>
          </a:p>
          <a:p/>
          <a:p>
            <a:r>
              <a:t>Organization — build structure that frees people, not traps them.</a:t>
            </a:r>
          </a:p>
          <a:p/>
          <a:p>
            <a:r>
              <a:t>Resilience — protect your energy. Recovery is not weakness. It is strategy.</a:t>
            </a:r>
          </a:p>
          <a:p/>
          <a:p>
            <a:r>
              <a:t>The Cisco case study proved this: when you stop fixing problems and start building on strengths, performance becomes sustainable — and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dimensions tell you who you are. But you also need to know where the world is going.</a:t>
            </a:r>
          </a:p>
          <a:p/>
          <a:p>
            <a:r>
              <a:t>The Radar has three layers.</a:t>
            </a:r>
          </a:p>
          <a:p/>
          <a:p>
            <a:r>
              <a:t>Radar Score — how healthy is each dimension right now? Your internal truth.</a:t>
            </a:r>
          </a:p>
          <a:p/>
          <a:p>
            <a:r>
              <a:t>Universal KPI — how do you compare to the best? Your external benchmark.</a:t>
            </a:r>
          </a:p>
          <a:p/>
          <a:p>
            <a:r>
              <a:t>Galactic KPI — where should you be in 3 to 5 years? Your ambition.</a:t>
            </a:r>
          </a:p>
          <a:p/>
          <a:p>
            <a:r>
              <a:t>You are never finished. You are always recalibrating.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session this week shaped a dimension of ANCHOR.</a:t>
            </a:r>
          </a:p>
          <a:p/>
          <a:p>
            <a:r>
              <a:t>This is not a retrospective exercise. It is proof that the framework emerged naturally from the programme itself.</a:t>
            </a:r>
          </a:p>
          <a:p/>
          <a:p>
            <a:r>
              <a:t>From character strengths to psychological safety. From attention science to circadian rhythms. From critical thinking to the Cisco case. Every insight found its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framework without practice is just theory.</a:t>
            </a:r>
          </a:p>
          <a:p/>
          <a:p>
            <a:r>
              <a:t>These are six tools — organic, simple, human.</a:t>
            </a:r>
          </a:p>
          <a:p/>
          <a:p>
            <a:r>
              <a:t>Peer Pulse Check: two minutes, one strength, one growth area. Weekly.</a:t>
            </a:r>
          </a:p>
          <a:p/>
          <a:p>
            <a:r>
              <a:t>Recognition Rituals: monthly spotlight on who lived the values.</a:t>
            </a:r>
          </a:p>
          <a:p/>
          <a:p>
            <a:r>
              <a:t>Cadence Reviews: weekly rhythm checks. Are we sustainable?</a:t>
            </a:r>
          </a:p>
          <a:p/>
          <a:p>
            <a:r>
              <a:t>Appreciative Problem-Solving: when did we solve something like this well? What worked?</a:t>
            </a:r>
          </a:p>
          <a:p/>
          <a:p>
            <a:r>
              <a:t>Initiative Ownership: each person picks one improvement per quarter. Not assigned — chosen.</a:t>
            </a:r>
          </a:p>
          <a:p/>
          <a:p>
            <a:r>
              <a:t>Weekly Reflection: fifteen minutes. What went well? What did I learn?</a:t>
            </a:r>
          </a:p>
          <a:p/>
          <a:p>
            <a:r>
              <a:t>Not bureaucracy. Rituals people want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you implement, diagnose. Six rules. DNA clarity. Growth versus structure. Leadership bottleneck. Cultural transmission. Knowledge systems. People investment.</a:t>
            </a:r>
          </a:p>
          <a:p/>
          <a:p>
            <a:r>
              <a:t>Then act.</a:t>
            </a:r>
          </a:p>
          <a:p/>
          <a:p>
            <a:r>
              <a:t>30 days: listen, map strengths, set the baseline.</a:t>
            </a:r>
          </a:p>
          <a:p/>
          <a:p>
            <a:r>
              <a:t>90 days: install cadence, build safety, clarify governance.</a:t>
            </a:r>
          </a:p>
          <a:p/>
          <a:p>
            <a:r>
              <a:t>12 months: full deployment. Measure. Recalibrate.</a:t>
            </a:r>
          </a:p>
          <a:p/>
          <a:p>
            <a:r>
              <a:t>This is not a project with an end date. It is a permanent operating system.</a:t>
            </a:r>
          </a:p>
          <a:p/>
          <a:p>
            <a:r>
              <a:t>PORTILAME already lives this — sports programmes, weekly knowledge sharing, annual reconnection to DNA, structural equity. Not plans.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anchor doesn't fight the storm. It holds the ship steady so the crew can navigate.</a:t>
            </a:r>
          </a:p>
          <a:p/>
          <a:p>
            <a:r>
              <a:t>[Point to QR code]</a:t>
            </a:r>
          </a:p>
          <a:p/>
          <a:p>
            <a:r>
              <a:t>Scan this to explore the full project. Everything is there.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54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335" y="1965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1200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ANCHOR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Through Change</a:t>
            </a:r>
            <a:endParaRPr lang="en-US" sz="2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Appreciative Inquiry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0" y="3657600"/>
            <a:ext cx="18288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7" name="Text 4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Holistic Leadership: From Purpose to Impact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IE Business School × Porto Business School  |  March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Alejandra Matallana  |  Devin Davis  |  Dominik Wohr  |  Pedro Cunha  |  Teresa Torres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a company with around 100 people.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means around 100 families.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children — some who could be our parents,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who could be our children.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19807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Growing at 40% per year. The founders realized they no longer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had the capacity or the knowledge to lead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3070271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8102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They lowered their pride. Elevated their humility.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8102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And started rebuilding everything.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847511"/>
            <a:ext cx="7315200" cy="27432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Text 5"/>
          <p:cNvSpPr/>
          <p:nvPr/>
        </p:nvSpPr>
        <p:spPr>
          <a:xfrm>
            <a:off x="914400" y="398467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How can holistic leadership help organizations lead through constant change?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The World We Lead 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8102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66%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of European workers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have experienced burnout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STADA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6616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8102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70%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6616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of change management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initiatives fail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McKinsey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8102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13%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of employees are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actively engaged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Gallup Europe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7315200" cy="27432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Our approach: a real case study — PORTILAME — where culture was the DNA,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rapid growth fractured it, and the mission became recovering what was always there.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4663440"/>
            <a:ext cx="57150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Shape 14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7" name="Text 15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9" name="Text 17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1" name="Text 19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when we lead at our best?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399032"/>
            <a:ext cx="164592" cy="164592"/>
          </a:xfrm>
          <a:prstGeom prst="ellipse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Trust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Real trust is given before it is earned. It unlocks everything.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01368"/>
            <a:ext cx="749808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Shape 7"/>
          <p:cNvSpPr/>
          <p:nvPr/>
        </p:nvSpPr>
        <p:spPr>
          <a:xfrm>
            <a:off x="914400" y="2020824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947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Adapting roles and systems to context creates resilience.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749808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3" name="Shape 11"/>
          <p:cNvSpPr/>
          <p:nvPr/>
        </p:nvSpPr>
        <p:spPr>
          <a:xfrm>
            <a:off x="914400" y="2642616"/>
            <a:ext cx="164592" cy="164592"/>
          </a:xfrm>
          <a:prstGeom prst="ellipse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Text 12"/>
          <p:cNvSpPr/>
          <p:nvPr/>
        </p:nvSpPr>
        <p:spPr>
          <a:xfrm>
            <a:off x="1280160" y="25694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5694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Transparent, consistent dialogue is the foundation of safety.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044952"/>
            <a:ext cx="749808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7" name="Shape 15"/>
          <p:cNvSpPr/>
          <p:nvPr/>
        </p:nvSpPr>
        <p:spPr>
          <a:xfrm>
            <a:off x="914400" y="3264408"/>
            <a:ext cx="164592" cy="164592"/>
          </a:xfrm>
          <a:prstGeom prst="ellipse">
            <a:avLst/>
          </a:prstGeom>
          <a:solidFill>
            <a:srgbClr val="C935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/>
          <p:nvPr/>
        </p:nvSpPr>
        <p:spPr>
          <a:xfrm>
            <a:off x="1280160" y="3191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Proactive Support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31912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Leaders who anticipate needs unlock team potential.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666744"/>
            <a:ext cx="749808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1" name="Shape 19"/>
          <p:cNvSpPr/>
          <p:nvPr/>
        </p:nvSpPr>
        <p:spPr>
          <a:xfrm>
            <a:off x="914400" y="3886200"/>
            <a:ext cx="164592" cy="164592"/>
          </a:xfrm>
          <a:prstGeom prst="ellipse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2" name="Text 20"/>
          <p:cNvSpPr/>
          <p:nvPr/>
        </p:nvSpPr>
        <p:spPr>
          <a:xfrm>
            <a:off x="128016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Shared Purpose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813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When people understand WHY, engagement follows naturally.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Source: Group 3 Peak Leadership Experiences + PORTILAME founding DNA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0" y="4663440"/>
            <a:ext cx="57150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6" name="Shape 24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7" name="Shape 25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0" name="Text 28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2" name="Text 30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868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5EDE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We want every proud face of our people to tell us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5EDE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that their children say: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79" y="1554480"/>
            <a:ext cx="749182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“My hero is my father!
When I grow up, I want to be like him:
work at PORTILAME."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7280" y="3017520"/>
            <a:ext cx="22860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EDE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This culture was in PORTILAME's DNA from the beginning.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EDE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Rapid growth fractured it. The mission: recover, protect,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EDE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and systematize what was always there.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And from that journey, build a framework any organization can 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4663440"/>
            <a:ext cx="5715000" cy="384048"/>
          </a:xfrm>
          <a:prstGeom prst="rect">
            <a:avLst/>
          </a:prstGeom>
          <a:solidFill>
            <a:srgbClr val="253A5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Shape 8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1" name="Text 9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5A709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3" name="Shape 11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Text 12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5A709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5A7090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Design: The ANCHOR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54864" cy="1280160"/>
          </a:xfrm>
          <a:prstGeom prst="rect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97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785C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Awareness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252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(Being)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Know yourself, your strengths, your biases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960120"/>
            <a:ext cx="54864" cy="1280160"/>
          </a:xfrm>
          <a:prstGeom prst="rect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097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975C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34340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Narrative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43400" y="1252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(Trust)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0" y="1508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Stories that create trust and meaning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960120"/>
            <a:ext cx="54864" cy="12801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972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04088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Cadence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040880" y="1252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(Health)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55080" y="1508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Rhythms and rituals that sustain energy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1520" y="2468880"/>
            <a:ext cx="54864" cy="1280160"/>
          </a:xfrm>
          <a:prstGeom prst="rect">
            <a:avLst/>
          </a:prstGeom>
          <a:solidFill>
            <a:srgbClr val="C93545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6060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3545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645920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Humanity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645920" y="27614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(Belonging)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6012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Psychological safety and belonging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429000" y="2468880"/>
            <a:ext cx="54864" cy="1280160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60604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233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7A9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4343400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343400" y="27614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(Growth)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65760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Structure that enables, not constrains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26480" y="2468880"/>
            <a:ext cx="54864" cy="1280160"/>
          </a:xfrm>
          <a:prstGeom prst="rect">
            <a:avLst/>
          </a:prstGeom>
          <a:solidFill>
            <a:srgbClr val="2C4A5A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60604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208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A5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</a:t>
            </a:r>
            <a:endParaRPr lang="en-US" sz="2000" dirty="0"/>
          </a:p>
        </p:txBody>
      </p:sp>
      <p:sp>
        <p:nvSpPr>
          <p:cNvPr id="37" name="Text 29"/>
          <p:cNvSpPr/>
          <p:nvPr/>
        </p:nvSpPr>
        <p:spPr>
          <a:xfrm>
            <a:off x="7040880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7040880" y="27614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(Mindfulness)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35508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Sustainable energy and self-compassion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731520" y="4114800"/>
            <a:ext cx="7680960" cy="27432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1" name="Text 33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Inner Game (A+N)  ·  Outer Game (C+H+O)  ·  Long Game (R)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1828800" y="4663440"/>
            <a:ext cx="57150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3" name="Shape 35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4" name="Text 36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6" name="Text 38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8" name="Shape 40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9" name="Text 41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The Calibration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ANCHOR measures who we are. HORIZON measures where the world is going.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68880" cy="457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Radar Score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Internal 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How healthy is each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dimension right now?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200400"/>
            <a:ext cx="1920240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Self-assessment + 360º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2468880" cy="45720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/>
          <p:nvPr/>
        </p:nvSpPr>
        <p:spPr>
          <a:xfrm>
            <a:off x="356616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Universal KPI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9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Industry Benchmark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How do we compare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to the best?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3200400"/>
            <a:ext cx="1920240" cy="292608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384048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Peer calibration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468880" cy="4572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Galactic KPI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Visionary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Where should we be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 3–5 years?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200400"/>
            <a:ext cx="1920240" cy="292608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2" name="Text 20"/>
          <p:cNvSpPr/>
          <p:nvPr/>
        </p:nvSpPr>
        <p:spPr>
          <a:xfrm>
            <a:off x="667512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Aspirational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INTERNAL  →  BENCHMARK  →  VISIONARY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114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The framework self-calibrates over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799" y="4663440"/>
            <a:ext cx="5715001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6" name="Shape 24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7" name="Text 25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9" name="Text 27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1" name="Shape 29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2" name="Text 30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Every session shaped a dimension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" name="Shape 3"/>
          <p:cNvSpPr/>
          <p:nvPr/>
        </p:nvSpPr>
        <p:spPr>
          <a:xfrm>
            <a:off x="914400" y="1060704"/>
            <a:ext cx="146304" cy="146304"/>
          </a:xfrm>
          <a:prstGeom prst="ellipse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Centeno — Well-being as 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1024128"/>
            <a:ext cx="1097280" cy="237744"/>
          </a:xfrm>
          <a:prstGeom prst="rect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6858000" y="1024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 + 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Shape 8"/>
          <p:cNvSpPr/>
          <p:nvPr/>
        </p:nvSpPr>
        <p:spPr>
          <a:xfrm>
            <a:off x="914400" y="1426464"/>
            <a:ext cx="146304" cy="146304"/>
          </a:xfrm>
          <a:prstGeom prst="ellipse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1" name="Text 9"/>
          <p:cNvSpPr/>
          <p:nvPr/>
        </p:nvSpPr>
        <p:spPr>
          <a:xfrm>
            <a:off x="12344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Hurtado — Character Strengths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389888"/>
            <a:ext cx="1097280" cy="237744"/>
          </a:xfrm>
          <a:prstGeom prst="rect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3" name="Text 11"/>
          <p:cNvSpPr/>
          <p:nvPr/>
        </p:nvSpPr>
        <p:spPr>
          <a:xfrm>
            <a:off x="6858000" y="1389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5" name="Shape 13"/>
          <p:cNvSpPr/>
          <p:nvPr/>
        </p:nvSpPr>
        <p:spPr>
          <a:xfrm>
            <a:off x="914400" y="1792224"/>
            <a:ext cx="146304" cy="146304"/>
          </a:xfrm>
          <a:prstGeom prst="ellipse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12344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Aguirre — Values &amp; Purpose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755648"/>
            <a:ext cx="1097280" cy="237744"/>
          </a:xfrm>
          <a:prstGeom prst="rect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/>
          <p:nvPr/>
        </p:nvSpPr>
        <p:spPr>
          <a:xfrm>
            <a:off x="6858000" y="17556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N + 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0" name="Shape 18"/>
          <p:cNvSpPr/>
          <p:nvPr/>
        </p:nvSpPr>
        <p:spPr>
          <a:xfrm>
            <a:off x="914400" y="2157984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1" name="Text 19"/>
          <p:cNvSpPr/>
          <p:nvPr/>
        </p:nvSpPr>
        <p:spPr>
          <a:xfrm>
            <a:off x="1234440" y="2057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Reina — Science of Attention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2121408"/>
            <a:ext cx="1097280" cy="23774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3" name="Text 21"/>
          <p:cNvSpPr/>
          <p:nvPr/>
        </p:nvSpPr>
        <p:spPr>
          <a:xfrm>
            <a:off x="6858000" y="2121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 + 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42316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5" name="Shape 23"/>
          <p:cNvSpPr/>
          <p:nvPr/>
        </p:nvSpPr>
        <p:spPr>
          <a:xfrm>
            <a:off x="914400" y="2523744"/>
            <a:ext cx="146304" cy="146304"/>
          </a:xfrm>
          <a:prstGeom prst="ellipse">
            <a:avLst/>
          </a:prstGeom>
          <a:solidFill>
            <a:srgbClr val="C935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6" name="Text 24"/>
          <p:cNvSpPr/>
          <p:nvPr/>
        </p:nvSpPr>
        <p:spPr>
          <a:xfrm>
            <a:off x="1234440" y="2423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Maguire — Psychological Safety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2487168"/>
            <a:ext cx="1097280" cy="237744"/>
          </a:xfrm>
          <a:prstGeom prst="rect">
            <a:avLst/>
          </a:prstGeom>
          <a:solidFill>
            <a:srgbClr val="C935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/>
          <p:nvPr/>
        </p:nvSpPr>
        <p:spPr>
          <a:xfrm>
            <a:off x="6858000" y="2487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0" name="Shape 28"/>
          <p:cNvSpPr/>
          <p:nvPr/>
        </p:nvSpPr>
        <p:spPr>
          <a:xfrm>
            <a:off x="914400" y="2889504"/>
            <a:ext cx="146304" cy="146304"/>
          </a:xfrm>
          <a:prstGeom prst="ellipse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1" name="Text 29"/>
          <p:cNvSpPr/>
          <p:nvPr/>
        </p:nvSpPr>
        <p:spPr>
          <a:xfrm>
            <a:off x="123444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Ferrari — Critical Thinking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2852928"/>
            <a:ext cx="1097280" cy="237744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3" name="Text 31"/>
          <p:cNvSpPr/>
          <p:nvPr/>
        </p:nvSpPr>
        <p:spPr>
          <a:xfrm>
            <a:off x="6858000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 + 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5" name="Shape 33"/>
          <p:cNvSpPr/>
          <p:nvPr/>
        </p:nvSpPr>
        <p:spPr>
          <a:xfrm>
            <a:off x="914400" y="3255264"/>
            <a:ext cx="146304" cy="146304"/>
          </a:xfrm>
          <a:prstGeom prst="ellipse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6" name="Text 34"/>
          <p:cNvSpPr/>
          <p:nvPr/>
        </p:nvSpPr>
        <p:spPr>
          <a:xfrm>
            <a:off x="1234440" y="3154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Gay Zaragoza — Leader's Narrative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3218688"/>
            <a:ext cx="1097280" cy="237744"/>
          </a:xfrm>
          <a:prstGeom prst="rect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8" name="Text 36"/>
          <p:cNvSpPr/>
          <p:nvPr/>
        </p:nvSpPr>
        <p:spPr>
          <a:xfrm>
            <a:off x="6858000" y="3218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0" name="Shape 38"/>
          <p:cNvSpPr/>
          <p:nvPr/>
        </p:nvSpPr>
        <p:spPr>
          <a:xfrm>
            <a:off x="914400" y="3621024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1" name="Text 39"/>
          <p:cNvSpPr/>
          <p:nvPr/>
        </p:nvSpPr>
        <p:spPr>
          <a:xfrm>
            <a:off x="123444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 la Serna — Circadian Rhythms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58000" y="3584448"/>
            <a:ext cx="1097280" cy="23774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3" name="Text 41"/>
          <p:cNvSpPr/>
          <p:nvPr/>
        </p:nvSpPr>
        <p:spPr>
          <a:xfrm>
            <a:off x="6858000" y="3584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5" name="Shape 43"/>
          <p:cNvSpPr/>
          <p:nvPr/>
        </p:nvSpPr>
        <p:spPr>
          <a:xfrm>
            <a:off x="914400" y="3986784"/>
            <a:ext cx="146304" cy="146304"/>
          </a:xfrm>
          <a:prstGeom prst="ellipse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6" name="Text 44"/>
          <p:cNvSpPr/>
          <p:nvPr/>
        </p:nvSpPr>
        <p:spPr>
          <a:xfrm>
            <a:off x="123444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Sebastián — Cisco Case Study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97280" cy="237744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8" name="Text 46"/>
          <p:cNvSpPr/>
          <p:nvPr/>
        </p:nvSpPr>
        <p:spPr>
          <a:xfrm>
            <a:off x="6858000" y="3950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 + 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0" name="Shape 48"/>
          <p:cNvSpPr/>
          <p:nvPr/>
        </p:nvSpPr>
        <p:spPr>
          <a:xfrm>
            <a:off x="914400" y="4352544"/>
            <a:ext cx="146304" cy="146304"/>
          </a:xfrm>
          <a:prstGeom prst="ellipse">
            <a:avLst/>
          </a:prstGeom>
          <a:solidFill>
            <a:srgbClr val="2C4A5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1" name="Text 49"/>
          <p:cNvSpPr/>
          <p:nvPr/>
        </p:nvSpPr>
        <p:spPr>
          <a:xfrm>
            <a:off x="123444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O'Connor — Mindfulness (daily)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0" y="4315968"/>
            <a:ext cx="1097280" cy="237744"/>
          </a:xfrm>
          <a:prstGeom prst="rect">
            <a:avLst/>
          </a:prstGeom>
          <a:solidFill>
            <a:srgbClr val="2C4A5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3" name="Text 51"/>
          <p:cNvSpPr/>
          <p:nvPr/>
        </p:nvSpPr>
        <p:spPr>
          <a:xfrm>
            <a:off x="6858000" y="4315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0" y="4663440"/>
            <a:ext cx="57150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5" name="Shape 53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56" name="Text 54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58" name="Text 56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60" name="Shape 58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1" name="Text 59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Leadership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Practical rituals that make the framework live in daily practice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868680"/>
          </a:xfrm>
          <a:prstGeom prst="rect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Peer Pulse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Weekly micro-feedback on strengths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417320"/>
            <a:ext cx="411480" cy="256032"/>
          </a:xfrm>
          <a:prstGeom prst="rect">
            <a:avLst/>
          </a:prstGeom>
          <a:solidFill>
            <a:srgbClr val="D478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54864" cy="868680"/>
          </a:xfrm>
          <a:prstGeom prst="rect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Recognition Rituals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Monthly values-aligned celebrations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411480" cy="256032"/>
          </a:xfrm>
          <a:prstGeom prst="rect">
            <a:avLst/>
          </a:prstGeom>
          <a:solidFill>
            <a:srgbClr val="D4975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Text 12"/>
          <p:cNvSpPr/>
          <p:nvPr/>
        </p:nvSpPr>
        <p:spPr>
          <a:xfrm>
            <a:off x="8229600" y="14173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377440"/>
            <a:ext cx="54864" cy="868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9601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Cadence Reviews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Weekly rhythm + quarterly radar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2514600"/>
            <a:ext cx="411480" cy="2560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Text 17"/>
          <p:cNvSpPr/>
          <p:nvPr/>
        </p:nvSpPr>
        <p:spPr>
          <a:xfrm>
            <a:off x="4114800" y="25146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54864" cy="868680"/>
          </a:xfrm>
          <a:prstGeom prst="rect">
            <a:avLst/>
          </a:prstGeom>
          <a:solidFill>
            <a:srgbClr val="C935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1" name="Text 19"/>
          <p:cNvSpPr/>
          <p:nvPr/>
        </p:nvSpPr>
        <p:spPr>
          <a:xfrm>
            <a:off x="50749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Appreciative Problem-Solving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Solution-focused, not deficit-focused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514600"/>
            <a:ext cx="411480" cy="256032"/>
          </a:xfrm>
          <a:prstGeom prst="rect">
            <a:avLst/>
          </a:prstGeom>
          <a:solidFill>
            <a:srgbClr val="C9354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Text 22"/>
          <p:cNvSpPr/>
          <p:nvPr/>
        </p:nvSpPr>
        <p:spPr>
          <a:xfrm>
            <a:off x="8229600" y="25146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474720"/>
            <a:ext cx="54864" cy="868680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6" name="Text 24"/>
          <p:cNvSpPr/>
          <p:nvPr/>
        </p:nvSpPr>
        <p:spPr>
          <a:xfrm>
            <a:off x="96012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Initiative Ownership Cards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Each person chooses one improvement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3611880"/>
            <a:ext cx="411480" cy="256032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9" name="Text 27"/>
          <p:cNvSpPr/>
          <p:nvPr/>
        </p:nvSpPr>
        <p:spPr>
          <a:xfrm>
            <a:off x="4114800" y="3611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54864" cy="868680"/>
          </a:xfrm>
          <a:prstGeom prst="rect">
            <a:avLst/>
          </a:prstGeom>
          <a:solidFill>
            <a:srgbClr val="2C4A5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1" name="Text 29"/>
          <p:cNvSpPr/>
          <p:nvPr/>
        </p:nvSpPr>
        <p:spPr>
          <a:xfrm>
            <a:off x="507492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Weekly Reflection Ritual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15 min: what went well, what I learned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0" y="3611880"/>
            <a:ext cx="411480" cy="256032"/>
          </a:xfrm>
          <a:prstGeom prst="rect">
            <a:avLst/>
          </a:prstGeom>
          <a:solidFill>
            <a:srgbClr val="2C4A5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4" name="Text 32"/>
          <p:cNvSpPr/>
          <p:nvPr/>
        </p:nvSpPr>
        <p:spPr>
          <a:xfrm>
            <a:off x="8229600" y="3611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251960"/>
            <a:ext cx="7680960" cy="27432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6" name="Text 34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Every tool maps to an ANCHOR dimension. Not bureaucracy — organic rituals people want to practice.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28800" y="4663440"/>
            <a:ext cx="57150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8" name="Shape 36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9" name="Text 37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1" name="Text 39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3" name="Shape 41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4" name="Text 42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9/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4864" cy="5943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PHASE 0  ·  DIAGNOSE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Run the 6 Diagnostic Rules first: DNA clarity · growth vs. structure · leadership bottleneck · cultural transmission · knowledge systems · people investment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2468880" cy="3657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30 Days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Radar baseline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Strengths mapping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First narrative act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Cadence installation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011680"/>
            <a:ext cx="2468880" cy="365760"/>
          </a:xfrm>
          <a:prstGeom prst="rect">
            <a:avLst/>
          </a:prstGeom>
          <a:solidFill>
            <a:srgbClr val="3D7A9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90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Governance clarity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Safety training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Career architecture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Universal KPI benchmark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246888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12 Months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Full ANCHOR deploy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Galactic KPI targets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Succession depth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HORIZON recalibration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4A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Not a project. A permanent operating system for holistic leadership.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4663440"/>
            <a:ext cx="548640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3" name="Shape 21"/>
          <p:cNvSpPr/>
          <p:nvPr/>
        </p:nvSpPr>
        <p:spPr>
          <a:xfrm>
            <a:off x="274320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4" name="Text 22"/>
          <p:cNvSpPr/>
          <p:nvPr/>
        </p:nvSpPr>
        <p:spPr>
          <a:xfrm>
            <a:off x="187452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DISCOVER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6" name="Text 24"/>
          <p:cNvSpPr/>
          <p:nvPr/>
        </p:nvSpPr>
        <p:spPr>
          <a:xfrm>
            <a:off x="342900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DREAM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52160" y="4855464"/>
            <a:ext cx="457200" cy="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/>
          <p:nvPr/>
        </p:nvSpPr>
        <p:spPr>
          <a:xfrm>
            <a:off x="498348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0" name="Text 28"/>
          <p:cNvSpPr/>
          <p:nvPr/>
        </p:nvSpPr>
        <p:spPr>
          <a:xfrm>
            <a:off x="6537960" y="4709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DESTINY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10/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P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anchor doesn't resist the storm.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holds the ship steady</a:t>
            </a:r>
            <a:endParaRPr lang="en-US" sz="2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F5E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crew can navigate.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0" y="2834640"/>
            <a:ext cx="182880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971801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0" y="4157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Scan to explore the full project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(password: anchor2026)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Alejandra Matallana  |  Devin Davis  |  Dominik Wohr  |  Pedro Cunha  |  Teresa Torres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Helvetica Neue, Helvetica, Arial" pitchFamily="34" charset="0"/>
                <a:ea typeface="Helvetica Neue, Helvetica, Arial" pitchFamily="34" charset="-122"/>
                <a:cs typeface="Helvetica Neue, Helvetica, Arial" pitchFamily="34" charset="-120"/>
              </a:rPr>
              <a:t>Group 3  ·  Holistic Leadership Programme  ·  IE × PBS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2542</Words>
  <Application>Microsoft Macintosh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Helvetica Neue, Helvetica, 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ANCHOR: Leading Through Change</dc:title>
  <dc:subject>PptxGenJS Presentation</dc:subject>
  <dc:creator>Group 3 — Holistic Leadership Programme</dc:creator>
  <cp:lastModifiedBy>Pedro Cunha</cp:lastModifiedBy>
  <cp:revision>7</cp:revision>
  <dcterms:created xsi:type="dcterms:W3CDTF">2026-03-26T02:48:55Z</dcterms:created>
  <dcterms:modified xsi:type="dcterms:W3CDTF">2026-03-26T16:26:55Z</dcterms:modified>
</cp:coreProperties>
</file>